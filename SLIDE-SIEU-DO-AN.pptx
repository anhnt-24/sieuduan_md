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Giới thiệu tên đề tài, nhóm, GVHD. 1 câu: đề tài gộp 3 hệ thống thành 1 chu trình khép kín.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điểm mới không phải từng hệ thống mà là vòng khép kín giữa 3 hệ thống.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vào 2 mũi tên vàng: đây là 2 mắt xích tạo ra giá trị khác biệt.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Nói ngắn từng role. Admin có usage log vì chi phí API là rủi ro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Elo thay cho BKT/IRT vì chạy được từ 0 dữ liệu. pyBKT chỉ để so sánh trong báo cáo.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Nói rõ vì sao chọn turn-based thay vì WebRTC realtime: giảm 4 thành phần khó, vẫn đủ để chấm nội 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dùng LightGBM vì không có nhãn 'ai được tuyển'. Công thức trọng số, Admin chỉnh được trên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slide quan trọng nhất để trả lời câu 'đề tài mới ở đâu'.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bị hỏi vì sao không NestJS + FastAPI: 2 backend = 2 lần auth, deploy, log. Team nhỏ thì 1 là đủ.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Tiêu chí khả thi: setup &lt; 1 ngày, chạy trên laptop/VPS nhỏ, không cần dữ liệu train, có free 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làm đủ 3 phân hệ ở mức chạy end-to-end quan trọng hơn 1 phân hệ làm sâu.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237744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A8D8D0"/>
                </a:solidFill>
                <a:latin typeface="Arial"/>
              </a:rPr>
              <a:t>ĐỒ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Nền tảng All-in-One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0" i="0">
                <a:solidFill>
                  <a:srgbClr val="DDE4EE"/>
                </a:solidFill>
                <a:latin typeface="Arial"/>
              </a:rPr>
              <a:t>Học thích ứng  →  Luyện phỏng vấn AI  →  Kết nối việc làm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A8B4C8"/>
                </a:solidFill>
                <a:latin typeface="Arial"/>
              </a:rPr>
              <a:t>Chu trình khép kín: học bù lỗ hổng, luyện phỏng vấn, tối ưu CV và match việc làm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928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C8D0DC"/>
                </a:solidFill>
                <a:latin typeface="Arial"/>
              </a:rPr>
              <a:t>Người trình bày: ……………………</a:t>
            </a:r>
          </a:p>
          <a:p>
            <a:pPr algn="l"/>
            <a:r>
              <a:rPr sz="1400" b="0" i="0">
                <a:solidFill>
                  <a:srgbClr val="C8D0DC"/>
                </a:solidFill>
                <a:latin typeface="Arial"/>
              </a:rPr>
              <a:t>Giảng viên hướng dẫn: ……………………   ·   Ngày: ……/……/2026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Vấn đề &amp;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01 · BỐI CẢNH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Vấn đề của sinh viên và nhà tuyển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6692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E9F8E"/>
                </a:solidFill>
                <a:latin typeface="Arial"/>
              </a:rPr>
              <a:t>•  </a:t>
            </a:r>
            <a:r>
              <a:rPr sz="1600">
                <a:solidFill>
                  <a:srgbClr val="222222"/>
                </a:solidFill>
                <a:latin typeface="Arial"/>
              </a:rPr>
              <a:t>Không biết mình thiếu kỹ năng gì so với JD thực tế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E9F8E"/>
                </a:solidFill>
                <a:latin typeface="Arial"/>
              </a:rPr>
              <a:t>•  </a:t>
            </a:r>
            <a:r>
              <a:rPr sz="1600">
                <a:solidFill>
                  <a:srgbClr val="222222"/>
                </a:solidFill>
                <a:latin typeface="Arial"/>
              </a:rPr>
              <a:t>Học dàn trải, không theo lỗ hổng kiến thức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E9F8E"/>
                </a:solidFill>
                <a:latin typeface="Arial"/>
              </a:rPr>
              <a:t>•  </a:t>
            </a:r>
            <a:r>
              <a:rPr sz="1600">
                <a:solidFill>
                  <a:srgbClr val="222222"/>
                </a:solidFill>
                <a:latin typeface="Arial"/>
              </a:rPr>
              <a:t>Sợ phỏng vấn, không có chỗ luyện có phản hồi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E9F8E"/>
                </a:solidFill>
                <a:latin typeface="Arial"/>
              </a:rPr>
              <a:t>•  </a:t>
            </a:r>
            <a:r>
              <a:rPr sz="1600">
                <a:solidFill>
                  <a:srgbClr val="222222"/>
                </a:solidFill>
                <a:latin typeface="Arial"/>
              </a:rPr>
              <a:t>CV không khớp JD, ứng tuyển rải không kết quả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E9F8E"/>
                </a:solidFill>
                <a:latin typeface="Arial"/>
              </a:rPr>
              <a:t>•  </a:t>
            </a:r>
            <a:r>
              <a:rPr sz="1600">
                <a:solidFill>
                  <a:srgbClr val="222222"/>
                </a:solidFill>
                <a:latin typeface="Arial"/>
              </a:rPr>
              <a:t>Nhà tuyển dụng chỉ đọc CV text, không thấy năng lực thật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23444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41732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Mục tiêu đề tài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66344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E9F8E"/>
                </a:solidFill>
                <a:latin typeface="Arial"/>
              </a:rPr>
              <a:t>•  </a:t>
            </a:r>
            <a:r>
              <a:rPr sz="1500">
                <a:solidFill>
                  <a:srgbClr val="222222"/>
                </a:solidFill>
                <a:latin typeface="Arial"/>
              </a:rPr>
              <a:t>Một nền tảng, một chu trình khép kín: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66666"/>
                </a:solidFill>
                <a:latin typeface="Arial"/>
              </a:rPr>
              <a:t>      –  </a:t>
            </a:r>
            <a:r>
              <a:rPr sz="1300">
                <a:solidFill>
                  <a:srgbClr val="222222"/>
                </a:solidFill>
                <a:latin typeface="Arial"/>
              </a:rPr>
              <a:t>Đo lỗ hổng → học đúng chỗ (Adaptive Learning)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66666"/>
                </a:solidFill>
                <a:latin typeface="Arial"/>
              </a:rPr>
              <a:t>      –  </a:t>
            </a:r>
            <a:r>
              <a:rPr sz="1300">
                <a:solidFill>
                  <a:srgbClr val="222222"/>
                </a:solidFill>
                <a:latin typeface="Arial"/>
              </a:rPr>
              <a:t>Luyện phỏng vấn với AI, có chấm điểm (Mock Interview)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66666"/>
                </a:solidFill>
                <a:latin typeface="Arial"/>
              </a:rPr>
              <a:t>      –  </a:t>
            </a:r>
            <a:r>
              <a:rPr sz="1300">
                <a:solidFill>
                  <a:srgbClr val="222222"/>
                </a:solidFill>
                <a:latin typeface="Arial"/>
              </a:rPr>
              <a:t>Tối ưu CV, match việc theo năng lực thật (Job Matching)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E9F8E"/>
                </a:solidFill>
                <a:latin typeface="Arial"/>
              </a:rPr>
              <a:t>•  </a:t>
            </a:r>
            <a:r>
              <a:rPr sz="1500">
                <a:solidFill>
                  <a:srgbClr val="222222"/>
                </a:solidFill>
                <a:latin typeface="Arial"/>
              </a:rPr>
              <a:t>Kết quả học và phỏng vấn trở thành bằng chứng năng lực cho nhà tuyển dụng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E9F8E"/>
                </a:solidFill>
                <a:latin typeface="Arial"/>
              </a:rPr>
              <a:t>•  </a:t>
            </a:r>
            <a:r>
              <a:rPr sz="1500">
                <a:solidFill>
                  <a:srgbClr val="222222"/>
                </a:solidFill>
                <a:latin typeface="Arial"/>
              </a:rPr>
              <a:t>Chạy được end-to-end với quy mô đồ án, không cần dữ liệu train sẵn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Giải pháp: 3 phân hệ, 1 chu trình khép kín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02 · TỔNG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1. Adaptive E-Learning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Test đầu vào · Lộ trình động · Sandbox · Spaced Repetition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40" y="2651760"/>
            <a:ext cx="457200" cy="36576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2. AI Mock Interview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Voice · Follow-up · Scorecard STAR, Big 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9560" y="2651760"/>
            <a:ext cx="457200" cy="36576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0" y="1828800"/>
            <a:ext cx="3200400" cy="20116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3. CV Matching &amp; Job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Parse CV · % Match · Feed · ATS Kanban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4206240"/>
            <a:ext cx="4114800" cy="54864"/>
          </a:xfrm>
          <a:prstGeom prst="rect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3840480" y="4041648"/>
            <a:ext cx="365760" cy="365760"/>
          </a:xfrm>
          <a:prstGeom prst="leftArrow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429768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Arial"/>
              </a:rPr>
              <a:t>Câu trả lời yếu → tự động thành bài học bù vào lộ trình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937760"/>
            <a:ext cx="10332720" cy="54864"/>
          </a:xfrm>
          <a:prstGeom prst="rect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11109960" y="4773168"/>
            <a:ext cx="365760" cy="365760"/>
          </a:xfrm>
          <a:prstGeom prst="rightArrow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10332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222222"/>
                </a:solidFill>
                <a:latin typeface="Arial"/>
              </a:rPr>
              <a:t>Elo kỹ năng + điểm mock interview → Verified Skills Badge → Nhà tuyển dụng xếp hạng theo năng lực thật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Arial"/>
              </a:rPr>
              <a:t>Một Skills Taxonomy (ESCO) dùng chung cho cả 3 phân hệ: mọi kỹ năng trong CV, JD, bài học, câu hỏi phỏng vấn đều cùng một 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Bốn vai trò người dùng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03 · NGƯỜI DÙNG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840480"/>
                <a:gridCol w="5120640"/>
              </a:tblGrid>
              <a:tr h="38404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Cần gì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Nền tảng cung cấp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Student / Candidate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Biết thiếu gì, học đúng chỗ, luyện phỏng vấn, tìm việc khớp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Skill-Gap · Lộ trình động · Mock interview + Scorecard · Job feed · 1-Click Apply · Kanban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Mentor / Giảng viên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Thiết kế cây kỹ năng, ngân hàng câu hỏi, rubric phỏng vấn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Knowledge Graph editor · Question bank có trọng số · Rubric config · Dashboard lỗ hổng phổ biến · Lịch 1:1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Recruiter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Ứng viên đúng kỹ năng thật, ít thời gian sàng lọc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Đăng tin + bóc tách kỹ năng · Ranking theo skill + mock score · Skill Scorecard · ATS Pipeline · Thư mẫu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Admin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Vận hành ổn định, kiểm soát chi phí AI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RBAC 4 role · Skills Taxonomy · Trọng số thuật toán · Kiểm duyệt tin · Usage log token/audio · Dashboard tổng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Phân hệ 1 · Adaptive E-Learning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04 · CHI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Tính năng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E9F8E"/>
                </a:solidFill>
                <a:latin typeface="Arial"/>
              </a:rPr>
              <a:t>•  </a:t>
            </a:r>
            <a:r>
              <a:rPr sz="1500">
                <a:solidFill>
                  <a:srgbClr val="222222"/>
                </a:solidFill>
                <a:latin typeface="Arial"/>
              </a:rPr>
              <a:t>Test đầu vào co giãn độ khó (CAT), 15–20 câu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E9F8E"/>
                </a:solidFill>
                <a:latin typeface="Arial"/>
              </a:rPr>
              <a:t>•  </a:t>
            </a:r>
            <a:r>
              <a:rPr sz="1500">
                <a:solidFill>
                  <a:srgbClr val="222222"/>
                </a:solidFill>
                <a:latin typeface="Arial"/>
              </a:rPr>
              <a:t>Cây kỹ năng có tiên quyết, lộ trình tự cập nhật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E9F8E"/>
                </a:solidFill>
                <a:latin typeface="Arial"/>
              </a:rPr>
              <a:t>•  </a:t>
            </a:r>
            <a:r>
              <a:rPr sz="1500">
                <a:solidFill>
                  <a:srgbClr val="222222"/>
                </a:solidFill>
                <a:latin typeface="Arial"/>
              </a:rPr>
              <a:t>Bài tập tự tăng/giảm độ khó theo kết quả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E9F8E"/>
                </a:solidFill>
                <a:latin typeface="Arial"/>
              </a:rPr>
              <a:t>•  </a:t>
            </a:r>
            <a:r>
              <a:rPr sz="1500">
                <a:solidFill>
                  <a:srgbClr val="222222"/>
                </a:solidFill>
                <a:latin typeface="Arial"/>
              </a:rPr>
              <a:t>Code sandbox cô lập, chấm bằng test case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E9F8E"/>
                </a:solidFill>
                <a:latin typeface="Arial"/>
              </a:rPr>
              <a:t>•  </a:t>
            </a:r>
            <a:r>
              <a:rPr sz="1500">
                <a:solidFill>
                  <a:srgbClr val="222222"/>
                </a:solidFill>
                <a:latin typeface="Arial"/>
              </a:rPr>
              <a:t>AI gợi ý 3 mức khi làm sai: khái niệm → chỗ sai → lời giải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E9F8E"/>
                </a:solidFill>
                <a:latin typeface="Arial"/>
              </a:rPr>
              <a:t>•  </a:t>
            </a:r>
            <a:r>
              <a:rPr sz="1500">
                <a:solidFill>
                  <a:srgbClr val="222222"/>
                </a:solidFill>
                <a:latin typeface="Arial"/>
              </a:rPr>
              <a:t>Ôn tập ngắt quãng (Spaced Repetition)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Thuật toán / cách xử lý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Elo theo kỹ năng: θ học viên, d câu hỏi. Đúng → θ tăng, d giảm. Không cần dữ liệu train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E = 1 / (1 + 10^((d − θ)/400));  θ' = θ + K(S − E)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Lộ trình = topological sort các node chưa đạt trong DAG kỹ năng ∩ skill-gap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Chọn bài trong dải [θ − 100, θ + 100]; 3 đúng → nâng, 2 sai → hạ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SM-2 (Anki): I₁=1, I₂=6, Iₙ = Iₙ₋₁ × EF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Piston sandbox: 5 s / 256 MB / tắt network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A81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Độ khó ban đầu do LLM gán 1–5, Elo tự hiệu chỉnh sau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6336792"/>
            <a:ext cx="164592" cy="164592"/>
          </a:xfrm>
          <a:prstGeom prst="ellipse">
            <a:avLst/>
          </a:prstGeom>
          <a:solidFill>
            <a:srgbClr val="2E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Dễ, rule/công thức rõ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6336792"/>
            <a:ext cx="164592" cy="164592"/>
          </a:xfrm>
          <a:prstGeom prst="ellipse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Cần tinh chỉnh / dữ liệu</a:t>
            </a:r>
          </a:p>
        </p:txBody>
      </p:sp>
      <p:sp>
        <p:nvSpPr>
          <p:cNvPr id="15" name="Oval 14"/>
          <p:cNvSpPr/>
          <p:nvPr/>
        </p:nvSpPr>
        <p:spPr>
          <a:xfrm>
            <a:off x="6583679" y="6336792"/>
            <a:ext cx="164592" cy="164592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79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Khó, cần dự phòng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Phân hệ 2 · AI Mock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05 · CHI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Pipeline một lượt hỏi–đáp (turn-based ở MVP)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Ghi âm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MediaRecorder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2103120"/>
            <a:ext cx="36576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71800" y="16916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STT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Whisper (Groq/OpenAI)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83480" y="2103120"/>
            <a:ext cx="36576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16916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LLM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Claude Sonnet 5
interviewer + chấm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06640" y="2103120"/>
            <a:ext cx="36576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16916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TTS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edge-tts / OpenAI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9800" y="2103120"/>
            <a:ext cx="36576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41280" y="16916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Phát lại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Audio + transcript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54864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Sinh câu hỏi theo JD hoặc kỹ năng, mỗi câu gắn skill_id + độ khó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Chấm + quyết định follow-up trong 1 call, JSON schema; tối đa 2 follow-up/câu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Câu có điểm &lt; 3/5 → hạ Elo kỹ năng đó → lộ trình thêm bài học bù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Độ trễ trả lời = timestamp bắt đầu nói − kết thúc câu hỏi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54864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D93B3B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Scorecard STAR 0–5 kèm evidence: LLM chấm không ổn định → chấm 2 lần lấy trung bình, Mentor spot-check 10%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A81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Big O: test case + thời gian chạy + LLM đọc code, hiển thị là ước lượng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A81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Độ trễ 3–6 s/lượt; nâng cấp OpenAI Realtime API / Gemini Live sau MVP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A81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Chống prompt injection: bọc câu trả lời trong tag riêng, ép output JSON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336792"/>
            <a:ext cx="164592" cy="164592"/>
          </a:xfrm>
          <a:prstGeom prst="ellipse">
            <a:avLst/>
          </a:prstGeom>
          <a:solidFill>
            <a:srgbClr val="2E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Dễ, rule/công thức rõ</a:t>
            </a:r>
          </a:p>
        </p:txBody>
      </p:sp>
      <p:sp>
        <p:nvSpPr>
          <p:cNvPr id="21" name="Oval 20"/>
          <p:cNvSpPr/>
          <p:nvPr/>
        </p:nvSpPr>
        <p:spPr>
          <a:xfrm>
            <a:off x="3566160" y="6336792"/>
            <a:ext cx="164592" cy="164592"/>
          </a:xfrm>
          <a:prstGeom prst="ellipse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59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Cần tinh chỉnh / dữ liệu</a:t>
            </a:r>
          </a:p>
        </p:txBody>
      </p:sp>
      <p:sp>
        <p:nvSpPr>
          <p:cNvPr id="23" name="Oval 22"/>
          <p:cNvSpPr/>
          <p:nvPr/>
        </p:nvSpPr>
        <p:spPr>
          <a:xfrm>
            <a:off x="6583679" y="6336792"/>
            <a:ext cx="164592" cy="164592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79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Khó, cần dự phòng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Phân hệ 3 · CV Matching &amp; Kết nối việc làm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06 · CHI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Pipeline xử lý CV và JD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Upload CV / JD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PDF · DOCX · 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2103120"/>
            <a:ext cx="36576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71800" y="16916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Đọc text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PyMuPDF · python-docx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83480" y="2103120"/>
            <a:ext cx="36576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94960" y="16916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Trích xuất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LLM → JSON schema
skills, years, roles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06640" y="2103120"/>
            <a:ext cx="36576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16916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Chuẩn hóa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Map ESCO: exact →
alias → cosine ≥ 0.85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29800" y="2103120"/>
            <a:ext cx="36576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241280" y="169164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Embedding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bge-m3 → pgvector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00400"/>
            <a:ext cx="54864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% Match = 0.7 × skill_match + 0.3 × cosine(CV, JD)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skill_match = Σ wᵢ·cᵢ / Σ wᵢ, cᵢ = 1 / 0.5 (cùng nhánh) / 0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Skill-Gap = kỹ năng JD − kỹ năng CV, xếp theo weight × (1 − proficiency)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Feed = w1·match + w2·cosine + w3·verified + w4·recency + w5·fit(địa điểm, lương)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54864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1-Click Apply lưu snapshot CV + match report tại thời điểm nộp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Kanban: applied → screening → interview → offer / rejected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Recruiter: cùng công thức, chiều ngược 1 JD × N ứng viên, cộng điểm mock cùng role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A81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Chuẩn hóa kỹ năng phụ thuộc bảng alias, Admin bồi đắp dần qua hàng đợi unmapped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6336792"/>
            <a:ext cx="164592" cy="164592"/>
          </a:xfrm>
          <a:prstGeom prst="ellipse">
            <a:avLst/>
          </a:prstGeom>
          <a:solidFill>
            <a:srgbClr val="2E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Dễ, rule/công thức rõ</a:t>
            </a:r>
          </a:p>
        </p:txBody>
      </p:sp>
      <p:sp>
        <p:nvSpPr>
          <p:cNvPr id="21" name="Oval 20"/>
          <p:cNvSpPr/>
          <p:nvPr/>
        </p:nvSpPr>
        <p:spPr>
          <a:xfrm>
            <a:off x="3566160" y="6336792"/>
            <a:ext cx="164592" cy="164592"/>
          </a:xfrm>
          <a:prstGeom prst="ellipse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59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Cần tinh chỉnh / dữ liệu</a:t>
            </a:r>
          </a:p>
        </p:txBody>
      </p:sp>
      <p:sp>
        <p:nvSpPr>
          <p:cNvPr id="23" name="Oval 22"/>
          <p:cNvSpPr/>
          <p:nvPr/>
        </p:nvSpPr>
        <p:spPr>
          <a:xfrm>
            <a:off x="6583679" y="6336792"/>
            <a:ext cx="164592" cy="164592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79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Khó, cần dự phòng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Điểm khác biệt: các mắt xích giữa 3 phân 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07 · GIÁ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09728" cy="13716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32918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  <a:latin typeface="Arial"/>
              </a:rPr>
              <a:t>Phỏng vấn → Học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280160"/>
            <a:ext cx="7498079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Câu trả lời yếu trong mock interview tự động hạ Elo kỹ năng và đẩy bài học bù lên đầu lộ trình. Không cần người dùng tự chọn học gì.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109728" cy="13716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32918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  <a:latin typeface="Arial"/>
              </a:rPr>
              <a:t>Học + Phỏng vấn → Việc làm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926080"/>
            <a:ext cx="7498079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Elo kỹ năng ≥ 60/100 và có mock score ≥ 3/5 → nhãn Verified. Nhà tuyển dụng xếp hạng theo Skill Scorecard thay vì đọc CV text.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109728" cy="1371600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32918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  <a:latin typeface="Arial"/>
              </a:rPr>
              <a:t>Một từ điển kỹ năng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572000"/>
            <a:ext cx="7498079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ESCO 13.000+ kỹ năng làm ID chung. CV, JD, bài học, câu hỏi, rubric đều tham chiếu cùng một node → mọi phép so khớp đều nhất quán.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Kiến trúc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08 ·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7498079" cy="100584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Client · Next.js + TypeScript + Tailwind + shadcn/ui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Monaco (code) · React Flow (cây kỹ năng) · dnd-kit (CV builder, Kanban) · Recharts</a:t>
            </a:r>
          </a:p>
        </p:txBody>
      </p:sp>
      <p:sp>
        <p:nvSpPr>
          <p:cNvPr id="8" name="Down Arrow 7"/>
          <p:cNvSpPr/>
          <p:nvPr/>
        </p:nvSpPr>
        <p:spPr>
          <a:xfrm>
            <a:off x="4069080" y="2331720"/>
            <a:ext cx="457200" cy="411480"/>
          </a:xfrm>
          <a:prstGeom prst="down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7498079" cy="1005840"/>
          </a:xfrm>
          <a:prstGeom prst="roundRect">
            <a:avLst>
              <a:gd name="adj" fmla="val 12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Backend · FastAPI (Python)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REST + WebSocket · Auth/RBAC · BackgroundTasks → Celery khi cần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069080" y="3840480"/>
            <a:ext cx="457200" cy="411480"/>
          </a:xfrm>
          <a:prstGeom prst="down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2377440" cy="100584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PostgreSQL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+ pgvector (HNSW)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297680"/>
            <a:ext cx="2377440" cy="100584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Redis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cache · session ·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297680"/>
            <a:ext cx="2377440" cy="100584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Object Storage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Arial"/>
              </a:rPr>
              <a:t>CV · audio · video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280160"/>
            <a:ext cx="3200400" cy="40233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37160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Arial"/>
              </a:rPr>
              <a:t>Dịch vụ AI (gọi từ Backend)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83080"/>
            <a:ext cx="292608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LLM: Claude Sonnet 5 · Haiku 4.5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STT: Whisper (Groq / OpenAI)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TTS: edge-tts / OpenAI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Embedding: bge-m3 (local)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Sandbox: Piston (Docker)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Video 1:1: Jitsi Meet 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Arial"/>
              </a:rPr>
              <a:t>Một backend Python vì mọi thư viện AI (PyMuPDF, bge-m3, pyBKT, Whisper) đều Python. Supabase có thể thay Postgres + Auth + Storage bằng một dịch vụ free tier.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Stack công nghệ chốt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09 ·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6424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120640"/>
                <a:gridCol w="4206240"/>
              </a:tblGrid>
              <a:tr h="38404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Lớp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Chọn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Vì sao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Next.js · TypeScript · Tailwind · shadcn/ui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Phổ biến, nhiều component sẵn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UI đặc thù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Monaco · React Flow · dnd-kit · Recharts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Editor chuẩn VS Code, vẽ đồ thị, kéo thả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FastAPI (Python 3.12) · WebSocket native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Cùng ngôn ngữ với thư viện AI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PostgreSQL + pgvector (Supabase hoặc Docker)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 DB cho cả quan hệ lẫn vector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Cache / Queue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Redis · Celery (sau MVP)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Không dựng queue sớm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LLM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Claude Sonnet 5 (chính) · Haiku 4.5 (gán nhãn, follow-up)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Structured output JSON, giá $2/$10 và $1/$5 mỗi 1M token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Voice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Whisper (Groq/OpenAI) · edge-tts hoặc OpenAI TTS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Free tier đủ cho demo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Embedding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bge-m3 (local) hoặc text-embedding-3-small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bge-m3 tốt tiếng Việt, miễn phí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Sandbox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Piston (Docker, 50+ ngôn ngữ)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 lệnh chạy, đã cô lập sẵn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Deploy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Docker Compose trên VPS · hoặc Vercel + Railway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Rẻ, đủ cho demo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Công nghệ đã rà lại: đề xuất gốc → khả thi cho đồ 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10 · KỸ THUẬT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6424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743200"/>
                <a:gridCol w="2926080"/>
                <a:gridCol w="3657600"/>
              </a:tblGrid>
              <a:tr h="38404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Nhu cầu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Đề xuất gốc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Chọn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Lý do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Đo năng lực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pyBKT / py-IRT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Elo theo kỹ năng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BKT/IRT cần dữ liệu lớn để fit; Elo chạy từ 0 dữ liệu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Cây tri thức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Neo4j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PostgreSQL + recursive CTE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&lt; 1.000 node, không cần DB đồ thị riêng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Code sandbox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Judge0 / Firecracker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Piston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Firecracker cần KVM bare-metal; Piston 1 lệnh Docker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Voice realtime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WebRTC / LiveKit / Agora + VAD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Turn-based, nâng cấp Realtime API sau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Phần khó nhất dự án, MVP không cần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Trích xuất kỹ năng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SpaCy / GLiNER (NER)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LLM structured output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Không phải train, chuẩn hóa được ReactJS = React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Vector search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Milvus / Qdrant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pgvector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&lt; 100k record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Re-ranking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LightGBM / CatBoost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Công thức trọng số tuyến tính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Không có nhãn 'ai được tuyển' để train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NestJS + Go + FastAPI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1 FastAPI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Team nhỏ, 1 backend, 1 lần deploy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Model LLM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Claude 3.5 Sonnet / GPT-4o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Claude Sonnet 5 / Haiku 4.5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Tên model cũ, cập nhật thế hệ hiện hành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Nguồn dữ liệu mở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11 ·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106424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120640"/>
                <a:gridCol w="4114800"/>
              </a:tblGrid>
              <a:tr h="384048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Phân hệ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Dùng để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CV &amp; Job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Kaggle LinkedIn Job Postings · Kaggle Resume Dataset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JD thực tế; CV mẫu để test parser và matching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ESCO (EU, 13.000+ kỹ năng) · O*NET (Mỹ)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Skills Taxonomy dùng chung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Crawl 100–200 tin TopCV / ITviec (Playwright)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Dữ liệu sát thị trường Việt Nam, dùng nội bộ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Adaptive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ASSISTments · EdNet (Riiid)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Lịch sử làm bài để kiểm chứng Elo / BKT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GitHub: javascript-questions, awesome-interview-questions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Ngân hàng quiz đã chia chủ đề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>Mock Interview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Blind 75 · NeetCode 150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Đề coding + test case + độ khó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system-design-primer · tech-interview-handbook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Arial"/>
                        </a:rPr>
                        <a:t>Rubric, câu hỏi STAR cho system prompt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1069848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Chiến thuật gán nhãn: script Python gọi Claude Haiku 4.5 qua Batch API (giảm 50% giá) gán skill_tag, prerequisite_node, difficulty 1–5 cho toàn bộ câu hỏi → JSON → PostgreSQL.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Phạm vi MVP &amp; thứ tự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12 · KẾ HOẠCH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566160" cy="457200"/>
          </a:xfrm>
          <a:prstGeom prst="rect">
            <a:avLst/>
          </a:prstGeom>
          <a:solidFill>
            <a:srgbClr val="2E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Core (bắt buộc)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566160" cy="2834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3832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Target Role + upload CV + Skill-Gap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Test đầu vào + lộ trình + quiz + SM-2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Mock interview turn-based + scorecard + đẩy về lộ trình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Job feed + % Match + 1-Click Apply + Kanban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Recruiter đăng tin + ranking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Admin RBAC + Taxonomy +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234440"/>
            <a:ext cx="3566160" cy="457200"/>
          </a:xfrm>
          <a:prstGeom prst="rect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23444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Sau MVP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691640"/>
            <a:ext cx="3566160" cy="2834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19" y="1783080"/>
            <a:ext cx="33832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Live coding trong phỏng vấn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Voice realtime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Semantic Talent Search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Đặt lịch 1:1 Mentor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Verified Badge công khai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Email thông báo · Chứng chỉ · Leaderboard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1234440"/>
            <a:ext cx="3566160" cy="457200"/>
          </a:xfrm>
          <a:prstGeom prst="rect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234440"/>
            <a:ext cx="35661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Cắt hẳn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1691640"/>
            <a:ext cx="3566160" cy="28346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783080"/>
            <a:ext cx="33832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Camera / share màn hình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Chấm phát âm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Firecracker · Neo4j · Milvus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LightGBM re-ranking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Payment thật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0E9F8E"/>
                </a:solidFill>
                <a:latin typeface="Arial"/>
              </a:rPr>
              <a:t>•  </a:t>
            </a:r>
            <a:r>
              <a:rPr sz="1300">
                <a:solidFill>
                  <a:srgbClr val="222222"/>
                </a:solidFill>
                <a:latin typeface="Arial"/>
              </a:rPr>
              <a:t>Xác thực pháp lý DN tự động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F2A44"/>
                </a:solidFill>
                <a:latin typeface="Arial"/>
              </a:rPr>
              <a:t>Thứ tự làm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1. Nền: Auth, schema, ESCO, Next.js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79192" y="5422392"/>
            <a:ext cx="18288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34640" y="516636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2. CV &amp; Job: parse → match → feed → apply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965192" y="5422392"/>
            <a:ext cx="18288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20640" y="516636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3. Adaptive: quiz, Elo, lộ trình, sandbox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251192" y="5422392"/>
            <a:ext cx="18288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06640" y="516636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4. Mock Interview: voice, rubric, link lộ trình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537192" y="5422392"/>
            <a:ext cx="182880" cy="320040"/>
          </a:xfrm>
          <a:prstGeom prst="rightArrow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92640" y="516636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5. Recruiter + Admin, demo 1 luồng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Mức độ khó &amp; rủi ro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13 · RỦI 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Phân bố mức độ khó của tính năng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4864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EA05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Phần lớn: Elo, SM-2, lộ trình DAG, % Match, feed, Kanban, RBAC, dashboard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A81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Chuẩn hóa kỹ năng về taxonomy (phụ thuộc alias)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A81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Voice pipeline turn-based (độ trễ 3–6 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E8A81C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Độ khó câu hỏi ban đầu (cold start), Big O ước lượng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D93B3B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Độ tin cậy chấm STAR bằng LLM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D93B3B"/>
                </a:solidFill>
                <a:latin typeface="Arial"/>
              </a:rPr>
              <a:t>●  </a:t>
            </a:r>
            <a:r>
              <a:rPr sz="1400">
                <a:solidFill>
                  <a:srgbClr val="222222"/>
                </a:solidFill>
                <a:latin typeface="Arial"/>
              </a:rPr>
              <a:t>Voice realtime, chấm phát âm → đã đẩy ra ngoài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Rủi ro và cách xử lý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600200"/>
          <a:ext cx="539496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566160"/>
              </a:tblGrid>
              <a:tr h="38404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Rủi ro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Xử lý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LLM chấm không ổn định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Rubric có anchor, chấm 2 lần lấy trung bình, Mentor spot-check 10%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Chi phí API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usage_log, quota phiên/ngày, Haiku cho việc rẻ, Batch API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Không có dữ liệu train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Chỉ dùng thuật toán không cần train: Elo, SM-2, trọng số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Bảo mật sandbox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Piston tắt network, giới hạn CPU/RAM/thời gian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</a:tr>
              <a:tr h="6400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  <a:latin typeface="Arial"/>
                        </a:rPr>
                        <a:t>Tiếng Việt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Arial"/>
                        </a:rPr>
                        <a:t>bge-m3 cho embedding, dịch ESCO 1 lần bằng LLM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548640" y="6336792"/>
            <a:ext cx="164592" cy="164592"/>
          </a:xfrm>
          <a:prstGeom prst="ellipse">
            <a:avLst/>
          </a:prstGeom>
          <a:solidFill>
            <a:srgbClr val="2EA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Dễ, rule/công thức rõ</a:t>
            </a:r>
          </a:p>
        </p:txBody>
      </p:sp>
      <p:sp>
        <p:nvSpPr>
          <p:cNvPr id="13" name="Oval 12"/>
          <p:cNvSpPr/>
          <p:nvPr/>
        </p:nvSpPr>
        <p:spPr>
          <a:xfrm>
            <a:off x="3566160" y="6336792"/>
            <a:ext cx="164592" cy="164592"/>
          </a:xfrm>
          <a:prstGeom prst="ellipse">
            <a:avLst/>
          </a:prstGeom>
          <a:solidFill>
            <a:srgbClr val="E8A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Cần tinh chỉnh / dữ liệu</a:t>
            </a:r>
          </a:p>
        </p:txBody>
      </p:sp>
      <p:sp>
        <p:nvSpPr>
          <p:cNvPr id="15" name="Oval 14"/>
          <p:cNvSpPr/>
          <p:nvPr/>
        </p:nvSpPr>
        <p:spPr>
          <a:xfrm>
            <a:off x="6583679" y="6336792"/>
            <a:ext cx="164592" cy="164592"/>
          </a:xfrm>
          <a:prstGeom prst="ellipse">
            <a:avLst/>
          </a:prstGeom>
          <a:solidFill>
            <a:srgbClr val="D9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79" y="626364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Arial"/>
              </a:rPr>
              <a:t>Khó, cần dự phòng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Hạn chế &amp;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A8D8D0"/>
                </a:solidFill>
                <a:latin typeface="Arial"/>
              </a:rPr>
              <a:t>14 · ĐÁNH GIÁ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Còn thiếu để chu trình thật sự khép kín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9F8E"/>
                </a:solidFill>
                <a:latin typeface="Arial"/>
              </a:rPr>
              <a:t>•  </a:t>
            </a:r>
            <a:r>
              <a:rPr sz="1400">
                <a:solidFill>
                  <a:srgbClr val="222222"/>
                </a:solidFill>
                <a:latin typeface="Arial"/>
              </a:rPr>
              <a:t>Vòng lặp ngược Việc làm → Học: bị từ chối hoặc thiếu kỹ năng của JD → tự đẩy vào lộ trình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9F8E"/>
                </a:solidFill>
                <a:latin typeface="Arial"/>
              </a:rPr>
              <a:t>•  </a:t>
            </a:r>
            <a:r>
              <a:rPr sz="1400">
                <a:solidFill>
                  <a:srgbClr val="222222"/>
                </a:solidFill>
                <a:latin typeface="Arial"/>
              </a:rPr>
              <a:t>Nhắc ôn tập + thông báo in-app (Spaced Repetition không có reminder thì vô nghĩa)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9F8E"/>
                </a:solidFill>
                <a:latin typeface="Arial"/>
              </a:rPr>
              <a:t>•  </a:t>
            </a:r>
            <a:r>
              <a:rPr sz="1400">
                <a:solidFill>
                  <a:srgbClr val="222222"/>
                </a:solidFill>
                <a:latin typeface="Arial"/>
              </a:rPr>
              <a:t>Chọn ngôn ngữ phỏng vấn Việt / Anh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9F8E"/>
                </a:solidFill>
                <a:latin typeface="Arial"/>
              </a:rPr>
              <a:t>•  </a:t>
            </a:r>
            <a:r>
              <a:rPr sz="1400">
                <a:solidFill>
                  <a:srgbClr val="222222"/>
                </a:solidFill>
                <a:latin typeface="Arial"/>
              </a:rPr>
              <a:t>Biểu đồ tiến bộ qua nhiều phiên phỏng vấn, nhiều lần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1F2A44"/>
                </a:solidFill>
                <a:latin typeface="Arial"/>
              </a:rPr>
              <a:t>Hướng phát triển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9F8E"/>
                </a:solidFill>
                <a:latin typeface="Arial"/>
              </a:rPr>
              <a:t>•  </a:t>
            </a:r>
            <a:r>
              <a:rPr sz="1400">
                <a:solidFill>
                  <a:srgbClr val="222222"/>
                </a:solidFill>
                <a:latin typeface="Arial"/>
              </a:rPr>
              <a:t>Recruiter gắn AI screening vào JD, nhận scorecard khi ứng viên apply (mô hình doanh thu)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9F8E"/>
                </a:solidFill>
                <a:latin typeface="Arial"/>
              </a:rPr>
              <a:t>•  </a:t>
            </a:r>
            <a:r>
              <a:rPr sz="1400">
                <a:solidFill>
                  <a:srgbClr val="222222"/>
                </a:solidFill>
                <a:latin typeface="Arial"/>
              </a:rPr>
              <a:t>Hàng đợi Mentor duyệt câu hỏi, hint, độ khó do AI sinh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9F8E"/>
                </a:solidFill>
                <a:latin typeface="Arial"/>
              </a:rPr>
              <a:t>•  </a:t>
            </a:r>
            <a:r>
              <a:rPr sz="1400">
                <a:solidFill>
                  <a:srgbClr val="222222"/>
                </a:solidFill>
                <a:latin typeface="Arial"/>
              </a:rPr>
              <a:t>Quota theo người dùng, consent ghi âm, xóa dữ liệu cá nhân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9F8E"/>
                </a:solidFill>
                <a:latin typeface="Arial"/>
              </a:rPr>
              <a:t>•  </a:t>
            </a:r>
            <a:r>
              <a:rPr sz="1400">
                <a:solidFill>
                  <a:srgbClr val="222222"/>
                </a:solidFill>
                <a:latin typeface="Arial"/>
              </a:rPr>
              <a:t>Nhiều CV theo Target Role + AI gợi ý viết lại CV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9F8E"/>
                </a:solidFill>
                <a:latin typeface="Arial"/>
              </a:rPr>
              <a:t>•  </a:t>
            </a:r>
            <a:r>
              <a:rPr sz="1400">
                <a:solidFill>
                  <a:srgbClr val="222222"/>
                </a:solidFill>
                <a:latin typeface="Arial"/>
              </a:rPr>
              <a:t>Voice realtime (OpenAI Realtime API / Gemini Live)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Kết luận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97280" cy="54864"/>
          </a:xfrm>
          <a:prstGeom prst="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0E9F8E"/>
                </a:solidFill>
                <a:latin typeface="Arial"/>
              </a:rPr>
              <a:t>▸  </a:t>
            </a:r>
            <a:r>
              <a:rPr sz="1800">
                <a:solidFill>
                  <a:srgbClr val="E6EBF2"/>
                </a:solidFill>
                <a:latin typeface="Arial"/>
              </a:rPr>
              <a:t>Ba phân hệ đã có nhiều sản phẩm riêng lẻ. Điểm mới là các mắt xích: phỏng vấn yếu → học bù, năng lực đã kiểm chứng → nhà tuyển dụng.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E9F8E"/>
                </a:solidFill>
                <a:latin typeface="Arial"/>
              </a:rPr>
              <a:t>▸  </a:t>
            </a:r>
            <a:r>
              <a:rPr sz="1800">
                <a:solidFill>
                  <a:srgbClr val="E6EBF2"/>
                </a:solidFill>
                <a:latin typeface="Arial"/>
              </a:rPr>
              <a:t>Stack chọn theo tiêu chí khả thi cho đồ án: không cần dữ liệu train, free tier, một backend Python.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0E9F8E"/>
                </a:solidFill>
                <a:latin typeface="Arial"/>
              </a:rPr>
              <a:t>▸  </a:t>
            </a:r>
            <a:r>
              <a:rPr sz="1800">
                <a:solidFill>
                  <a:srgbClr val="E6EBF2"/>
                </a:solidFill>
                <a:latin typeface="Arial"/>
              </a:rPr>
              <a:t>Tiêu chí thành công: demo được một luồng end-to-end Student → Mock Interview → Job → Recruiter trên dữ liệu mở.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Cảm ơn thầy cô và các bạn đã lắng nghe  ·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